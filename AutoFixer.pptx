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89" r:id="rId7"/>
    <p:sldId id="263" r:id="rId8"/>
    <p:sldId id="264" r:id="rId9"/>
    <p:sldId id="265" r:id="rId10"/>
    <p:sldId id="288" r:id="rId11"/>
    <p:sldId id="270" r:id="rId12"/>
    <p:sldId id="271" r:id="rId13"/>
    <p:sldId id="294" r:id="rId14"/>
    <p:sldId id="295" r:id="rId15"/>
    <p:sldId id="281" r:id="rId16"/>
    <p:sldId id="282" r:id="rId17"/>
    <p:sldId id="283" r:id="rId18"/>
    <p:sldId id="285" r:id="rId19"/>
    <p:sldId id="290" r:id="rId20"/>
    <p:sldId id="291" r:id="rId21"/>
    <p:sldId id="284" r:id="rId22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78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haqeem sami murtuza" initials="" lastIdx="2" clrIdx="0"/>
  <p:cmAuthor id="1" name="Rajesh Murugan" initials="R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3C38C9-878C-4065-9D81-2A62FCC8EA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48" autoAdjust="0"/>
  </p:normalViewPr>
  <p:slideViewPr>
    <p:cSldViewPr snapToGrid="0" showGuides="1">
      <p:cViewPr varScale="1">
        <p:scale>
          <a:sx n="89" d="100"/>
          <a:sy n="89" d="100"/>
        </p:scale>
        <p:origin x="870" y="78"/>
      </p:cViewPr>
      <p:guideLst>
        <p:guide orient="horz" pos="1620"/>
        <p:guide pos="27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516467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7fe8fc6d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7fe8fc6d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27fe8fc6d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27fe8fc6d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7fe8fc6d9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227fe8fc6d9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27fe8fc6d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227fe8fc6d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27fe8fc6d9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227fe8fc6d9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27fe8fc6d9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227fe8fc6d9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27fe8fc6d9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227fe8fc6d9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27fe8fc6d9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227fe8fc6d9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 txBox="1">
            <a:spLocks noGrp="1"/>
          </p:cNvSpPr>
          <p:nvPr>
            <p:ph type="title"/>
          </p:nvPr>
        </p:nvSpPr>
        <p:spPr>
          <a:xfrm>
            <a:off x="1715850" y="109025"/>
            <a:ext cx="57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body" idx="1"/>
          </p:nvPr>
        </p:nvSpPr>
        <p:spPr>
          <a:xfrm>
            <a:off x="311700" y="1008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 panose="020B0606030504020204"/>
              <a:buChar char="●"/>
              <a:def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 panose="020B0606030504020204"/>
              <a:buChar char="○"/>
              <a:def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 panose="020B0606030504020204"/>
              <a:buChar char="■"/>
              <a:def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 panose="020B0606030504020204"/>
              <a:buChar char="●"/>
              <a:def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 panose="020B0606030504020204"/>
              <a:buChar char="○"/>
              <a:def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 panose="020B0606030504020204"/>
              <a:buChar char="■"/>
              <a:def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 panose="020B0606030504020204"/>
              <a:buChar char="●"/>
              <a:def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 panose="020B0606030504020204"/>
              <a:buChar char="○"/>
              <a:def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 panose="020B0606030504020204"/>
              <a:buChar char="■"/>
              <a:def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sldNum" idx="12"/>
          </p:nvPr>
        </p:nvSpPr>
        <p:spPr>
          <a:xfrm>
            <a:off x="7344600" y="4663217"/>
            <a:ext cx="179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2"/>
          <p:cNvSpPr txBox="1">
            <a:spLocks noGrp="1"/>
          </p:cNvSpPr>
          <p:nvPr>
            <p:ph type="title"/>
          </p:nvPr>
        </p:nvSpPr>
        <p:spPr>
          <a:xfrm>
            <a:off x="1715850" y="97025"/>
            <a:ext cx="57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" name="Google Shape;33;p3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>
            <a:spLocks noGrp="1"/>
          </p:cNvSpPr>
          <p:nvPr>
            <p:ph type="title"/>
          </p:nvPr>
        </p:nvSpPr>
        <p:spPr>
          <a:xfrm>
            <a:off x="1715850" y="97025"/>
            <a:ext cx="57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3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3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0728F-6002-4314-B2ED-0F47E2DA373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A9F5-1791-41A7-836A-FC0CA067F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296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0728F-6002-4314-B2ED-0F47E2DA373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A9F5-1791-41A7-836A-FC0CA067F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949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0728F-6002-4314-B2ED-0F47E2DA373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A9F5-1791-41A7-836A-FC0CA067F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951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0728F-6002-4314-B2ED-0F47E2DA373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A9F5-1791-41A7-836A-FC0CA067F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433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0728F-6002-4314-B2ED-0F47E2DA373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A9F5-1791-41A7-836A-FC0CA067F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274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0728F-6002-4314-B2ED-0F47E2DA373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A9F5-1791-41A7-836A-FC0CA067F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556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0728F-6002-4314-B2ED-0F47E2DA373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A9F5-1791-41A7-836A-FC0CA067F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9034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0728F-6002-4314-B2ED-0F47E2DA373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A9F5-1791-41A7-836A-FC0CA067F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562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0728F-6002-4314-B2ED-0F47E2DA373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A9F5-1791-41A7-836A-FC0CA067F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7837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0728F-6002-4314-B2ED-0F47E2DA373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A9F5-1791-41A7-836A-FC0CA067F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0019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0728F-6002-4314-B2ED-0F47E2DA373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A9F5-1791-41A7-836A-FC0CA067F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739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146838" y="183792"/>
            <a:ext cx="892374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D8"/>
              </a:buClr>
              <a:buSzPts val="2700"/>
              <a:buFont typeface="Open Sans" panose="020B0606030504020204"/>
              <a:buNone/>
              <a:defRPr sz="2700" b="1" i="0" u="none" strike="noStrike" cap="none">
                <a:solidFill>
                  <a:srgbClr val="3C3CD8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D8"/>
              </a:buClr>
              <a:buSzPts val="2700"/>
              <a:buFont typeface="Open Sans" panose="020B0606030504020204"/>
              <a:buNone/>
              <a:defRPr sz="2700" b="1" i="0" u="none" strike="noStrike" cap="none">
                <a:solidFill>
                  <a:srgbClr val="3C3CD8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D8"/>
              </a:buClr>
              <a:buSzPts val="2700"/>
              <a:buFont typeface="Open Sans" panose="020B0606030504020204"/>
              <a:buNone/>
              <a:defRPr sz="2700" b="1" i="0" u="none" strike="noStrike" cap="none">
                <a:solidFill>
                  <a:srgbClr val="3C3CD8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D8"/>
              </a:buClr>
              <a:buSzPts val="2700"/>
              <a:buFont typeface="Open Sans" panose="020B0606030504020204"/>
              <a:buNone/>
              <a:defRPr sz="2700" b="1" i="0" u="none" strike="noStrike" cap="none">
                <a:solidFill>
                  <a:srgbClr val="3C3CD8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D8"/>
              </a:buClr>
              <a:buSzPts val="2700"/>
              <a:buFont typeface="Open Sans" panose="020B0606030504020204"/>
              <a:buNone/>
              <a:defRPr sz="2700" b="1" i="0" u="none" strike="noStrike" cap="none">
                <a:solidFill>
                  <a:srgbClr val="3C3CD8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D8"/>
              </a:buClr>
              <a:buSzPts val="2700"/>
              <a:buFont typeface="Open Sans" panose="020B0606030504020204"/>
              <a:buNone/>
              <a:defRPr sz="2700" b="1" i="0" u="none" strike="noStrike" cap="none">
                <a:solidFill>
                  <a:srgbClr val="3C3CD8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D8"/>
              </a:buClr>
              <a:buSzPts val="2700"/>
              <a:buFont typeface="Open Sans" panose="020B0606030504020204"/>
              <a:buNone/>
              <a:defRPr sz="2700" b="1" i="0" u="none" strike="noStrike" cap="none">
                <a:solidFill>
                  <a:srgbClr val="3C3CD8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D8"/>
              </a:buClr>
              <a:buSzPts val="2700"/>
              <a:buFont typeface="Open Sans" panose="020B0606030504020204"/>
              <a:buNone/>
              <a:defRPr sz="2700" b="1" i="0" u="none" strike="noStrike" cap="none">
                <a:solidFill>
                  <a:srgbClr val="3C3CD8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D8"/>
              </a:buClr>
              <a:buSzPts val="2700"/>
              <a:buFont typeface="Open Sans" panose="020B0606030504020204"/>
              <a:buNone/>
              <a:defRPr sz="2700" b="1" i="0" u="none" strike="noStrike" cap="none">
                <a:solidFill>
                  <a:srgbClr val="3C3CD8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9pPr>
          </a:lstStyle>
          <a:p>
            <a:endParaRPr dirty="0"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008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dirty="0"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11" name="Google Shape;11;p28"/>
          <p:cNvSpPr/>
          <p:nvPr/>
        </p:nvSpPr>
        <p:spPr>
          <a:xfrm>
            <a:off x="0" y="5093775"/>
            <a:ext cx="9144000" cy="66300"/>
          </a:xfrm>
          <a:prstGeom prst="rect">
            <a:avLst/>
          </a:prstGeom>
          <a:solidFill>
            <a:srgbClr val="5E2B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12;p28"/>
          <p:cNvSpPr txBox="1"/>
          <p:nvPr/>
        </p:nvSpPr>
        <p:spPr>
          <a:xfrm>
            <a:off x="0" y="4759225"/>
            <a:ext cx="219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4A86E8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Department of CSE</a:t>
            </a:r>
            <a:endParaRPr sz="1200" b="0" i="0" u="none" strike="noStrike" cap="none">
              <a:solidFill>
                <a:srgbClr val="4A86E8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3" name="Google Shape;13;p28"/>
          <p:cNvSpPr txBox="1"/>
          <p:nvPr/>
        </p:nvSpPr>
        <p:spPr>
          <a:xfrm>
            <a:off x="6948000" y="4763625"/>
            <a:ext cx="219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 dirty="0">
                <a:solidFill>
                  <a:srgbClr val="9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CS3811 - Project Work</a:t>
            </a:r>
            <a:endParaRPr sz="1200" b="0" i="0" u="none" strike="noStrike" cap="none" dirty="0">
              <a:solidFill>
                <a:srgbClr val="98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411" y="120143"/>
            <a:ext cx="709148" cy="7381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32" y="66746"/>
            <a:ext cx="672213" cy="7008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0728F-6002-4314-B2ED-0F47E2DA373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7A9F5-1791-41A7-836A-FC0CA067F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230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/>
        </p:nvSpPr>
        <p:spPr>
          <a:xfrm>
            <a:off x="490908" y="848859"/>
            <a:ext cx="81837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AUTOFIXER: LLM-GUIDED PROGRAM REPAIR FOR JAVA USING 	NEURO-SYMBOLIC AND MULTIMODAL CODE REASONING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171795" y="2393152"/>
            <a:ext cx="2496000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r>
              <a:rPr lang="en-GB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Student Name</a:t>
            </a:r>
            <a:br>
              <a:rPr lang="en-GB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  <a:sym typeface="Open Sans" panose="020B0606030504020204"/>
              </a:rPr>
            </a:br>
            <a:br>
              <a:rPr lang="en-GB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  <a:sym typeface="Open Sans" panose="020B0606030504020204"/>
              </a:rPr>
            </a:br>
            <a:r>
              <a:rPr lang="en-US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  <a:sym typeface="Times New Roman" panose="02020603050405020304"/>
              </a:rPr>
              <a:t>ELANTHIRAIYAN SB</a:t>
            </a:r>
            <a:endParaRPr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  <a:sym typeface="Open Sans" panose="020B0606030504020204"/>
              </a:rPr>
              <a:t>(</a:t>
            </a:r>
            <a:r>
              <a:rPr lang="en-GB" b="1" dirty="0"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</a:rPr>
              <a:t>313522104033</a:t>
            </a:r>
            <a:r>
              <a:rPr lang="en-GB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  <a:sym typeface="Open Sans" panose="020B0606030504020204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  <a:sym typeface="Open Sans" panose="020B0606030504020204"/>
              </a:rPr>
              <a:t>KEERTHIVASAN 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  <a:sym typeface="Open Sans" panose="020B0606030504020204"/>
              </a:rPr>
              <a:t>(313522104075)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  <a:sym typeface="Open Sans" panose="020B0606030504020204"/>
              </a:rPr>
              <a:t>MANISH MOHAN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  <a:sym typeface="Open Sans" panose="020B0606030504020204"/>
              </a:rPr>
              <a:t>(313522104093)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  <a:sym typeface="Open Sans" panose="020B0606030504020204"/>
              </a:rPr>
              <a:t>MOHAMMAD AMMAR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  <a:sym typeface="Open Sans" panose="020B0606030504020204"/>
              </a:rPr>
              <a:t>(313522104099)</a:t>
            </a:r>
            <a:br>
              <a:rPr lang="en-GB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  <a:sym typeface="Open Sans" panose="020B0606030504020204"/>
              </a:rPr>
            </a:br>
            <a:br>
              <a:rPr lang="en-GB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/>
                <a:cs typeface="Times New Roman" panose="02020603050405020304" pitchFamily="18" charset="0"/>
                <a:sym typeface="Open Sans" panose="020B0606030504020204"/>
              </a:rPr>
            </a:br>
            <a:endParaRPr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Open Sans" panose="020B0606030504020204"/>
              <a:cs typeface="Times New Roman" panose="02020603050405020304" pitchFamily="18" charset="0"/>
              <a:sym typeface="Open Sans" panose="020B0606030504020204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4572000" y="2175550"/>
            <a:ext cx="4389575" cy="255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r>
              <a:rPr lang="en-GB" b="1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Supervisor 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r>
              <a:rPr lang="en-GB" b="1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Ms.M.Shamini</a:t>
            </a:r>
            <a:r>
              <a:rPr lang="en-GB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M.E.,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r>
              <a:rPr lang="en-GB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Professor,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r>
              <a:rPr lang="en-GB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CSE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r>
              <a:rPr lang="en-GB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Panimalar Engineering College Chennai City Campus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br>
              <a:rPr lang="en-GB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GB" b="1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Head of the Department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None/>
            </a:pPr>
            <a:r>
              <a:rPr lang="en-GB" b="1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 </a:t>
            </a:r>
            <a:r>
              <a:rPr lang="en-GB" b="1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I.Thamarai</a:t>
            </a:r>
            <a:r>
              <a:rPr lang="en-GB" b="1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M.E., Ph.D.,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None/>
            </a:pPr>
            <a:r>
              <a:rPr lang="en-GB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Professor,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None/>
            </a:pPr>
            <a:r>
              <a:rPr lang="en-GB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CSE</a:t>
            </a:r>
          </a:p>
          <a:p>
            <a:pPr lvl="0" algn="r">
              <a:buSzPts val="1900"/>
            </a:pPr>
            <a:r>
              <a:rPr lang="en-GB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Panimalar Engineering College Chennai City Campus</a:t>
            </a:r>
          </a:p>
        </p:txBody>
      </p:sp>
      <p:sp>
        <p:nvSpPr>
          <p:cNvPr id="67" name="Google Shape;67;p1"/>
          <p:cNvSpPr/>
          <p:nvPr/>
        </p:nvSpPr>
        <p:spPr>
          <a:xfrm>
            <a:off x="7440919" y="4872038"/>
            <a:ext cx="1608694" cy="16243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7333763" y="4872037"/>
            <a:ext cx="1715850" cy="16243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7" y="53395"/>
            <a:ext cx="873595" cy="8476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>
            <a:spLocks noGrp="1"/>
          </p:cNvSpPr>
          <p:nvPr>
            <p:ph type="title"/>
          </p:nvPr>
        </p:nvSpPr>
        <p:spPr>
          <a:xfrm>
            <a:off x="1715850" y="109025"/>
            <a:ext cx="5712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7428150" y="4864894"/>
            <a:ext cx="1651556" cy="16958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300913" y="4736306"/>
            <a:ext cx="1778793" cy="29816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7300913" y="4799795"/>
            <a:ext cx="2550319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CS3811- PROJECT WORK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972" y="160681"/>
            <a:ext cx="750458" cy="7470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4A505128-FBFA-0683-7E34-A1A1394621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1409" y="1105150"/>
            <a:ext cx="7595721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Solves the "plausible but incorrect" patch issue by verifying AI-generated code against formal logic.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the generative power of the Qwen2.5-coder LLM with the Z3 theorem prover for verification.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multimodal analysis by integrating AST, CFG, and compiler diagnostics into the repair process.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a symbolic validation layer to eliminate hallucinations and ensure program semantic integrity.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>
            <a:spLocks noGrp="1"/>
          </p:cNvSpPr>
          <p:nvPr>
            <p:ph type="title"/>
          </p:nvPr>
        </p:nvSpPr>
        <p:spPr>
          <a:xfrm>
            <a:off x="1715850" y="147150"/>
            <a:ext cx="5712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479506" y="4864894"/>
            <a:ext cx="1571625" cy="16430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428150" y="4786313"/>
            <a:ext cx="1622981" cy="24288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3EFD29-E1D2-E63F-880D-5F05B28E2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826" y="1119431"/>
            <a:ext cx="8928348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increasing complexity of modern software makes manual debugging an expensive and time-consuming task for Java developers.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Program Repair (APR) seeks to automate bug fixing, but existing tools often produce "plausible but incorrect" patches.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Large Language Models (LLMs) offer generative power, they can introduce hallucinations that compromise software reliability.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AutoFixer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these issues by combining LLM-based code generation with formal verification using the Z3 theorem prover.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>
            <a:spLocks noGrp="1"/>
          </p:cNvSpPr>
          <p:nvPr>
            <p:ph type="title"/>
          </p:nvPr>
        </p:nvSpPr>
        <p:spPr>
          <a:xfrm>
            <a:off x="1715850" y="109025"/>
            <a:ext cx="57123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WHAT IS NEUROSYMBOLIC?</a:t>
            </a: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" name="Google Shape;93;p4"/>
          <p:cNvSpPr txBox="1">
            <a:spLocks noGrp="1"/>
          </p:cNvSpPr>
          <p:nvPr>
            <p:ph type="body" idx="1"/>
          </p:nvPr>
        </p:nvSpPr>
        <p:spPr>
          <a:xfrm>
            <a:off x="311700" y="1008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lnSpc>
                <a:spcPct val="150000"/>
              </a:lnSpc>
              <a:buClr>
                <a:srgbClr val="000000"/>
              </a:buClr>
              <a:buFont typeface="Times New Roman" panose="02020603050405020304"/>
              <a:buChar char="●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Neurosymbolic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(which learn patterns from data)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symbolic 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systems that can both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and think</a:t>
            </a:r>
            <a:r>
              <a:rPr lang="en-US" dirty="0"/>
              <a:t>.</a:t>
            </a:r>
          </a:p>
          <a:p>
            <a:pPr marL="1143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GB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43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endParaRPr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479506" y="4900613"/>
            <a:ext cx="1557338" cy="13573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428150" y="4900613"/>
            <a:ext cx="1658700" cy="13386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165181" y="4550569"/>
            <a:ext cx="1800225" cy="40005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72D321-6B70-4459-96B6-CBFF0AF0A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3038" y="2206662"/>
            <a:ext cx="3429000" cy="29368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57BC1-BAD6-9739-1CA8-B8FA7D25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850" y="109025"/>
            <a:ext cx="5712300" cy="101563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MULTIMODAL CODE REASONING?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799A1-4758-5629-6AF2-964E50205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Reasoning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 approach that understands and reasons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data types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text, images, audio, and video together.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345A6-11F7-76A9-FA76-9D4085268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590" y="2086984"/>
            <a:ext cx="3429000" cy="281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101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27fe8fc6d9_0_5"/>
          <p:cNvSpPr txBox="1">
            <a:spLocks noGrp="1"/>
          </p:cNvSpPr>
          <p:nvPr>
            <p:ph type="title"/>
          </p:nvPr>
        </p:nvSpPr>
        <p:spPr>
          <a:xfrm>
            <a:off x="1715850" y="109025"/>
            <a:ext cx="57123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EXISTING SYSTEM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7428150" y="4697361"/>
            <a:ext cx="1642108" cy="337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467EC1-F15C-A164-07FE-83A8767AC1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1908" y="1139888"/>
            <a:ext cx="81749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generate-and-validate systems like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GenProg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ARJA often produce "plausible but incorrect" patches that pass tests but fail in execution.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LLM-based methods such as CodeT5 and PLBART view repair as sequence problems but fail to provide any formal verification of the code.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Constraint-based techniques like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SemFix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DirectFix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 semantic correctness through SMT solvers but scale poorly to large or complex programs..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Purely neural models operate as "black-box" systems, providing no explanation for repair decisions, which reduces developer trust.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7fe8fc6d9_0_10"/>
          <p:cNvSpPr txBox="1">
            <a:spLocks noGrp="1"/>
          </p:cNvSpPr>
          <p:nvPr>
            <p:ph type="title"/>
          </p:nvPr>
        </p:nvSpPr>
        <p:spPr>
          <a:xfrm>
            <a:off x="1715850" y="109025"/>
            <a:ext cx="57123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DRAWBACKS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7428150" y="4747098"/>
            <a:ext cx="1618573" cy="2873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A101CFF8-17AA-40D4-65A9-38965D2F7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1908" y="1090761"/>
            <a:ext cx="8198149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 generation of "plausible but incorrect" patches that pass test suites while failing logical requirements.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formal semantic verification to ensure that generated code preserves the original program invariants.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to neural hallucinations where models produce syntactically valid but logically flawed code.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integration of structural information like Abstract Syntax Trees, leading to shallow code analysis.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1728550" y="121725"/>
            <a:ext cx="57123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 dirty="0"/>
              <a:t>LITERATURE SURVEY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67238" y="1993896"/>
            <a:ext cx="8520600" cy="2721436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foundational paper introduced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GenProg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pioneering tool that used genetic programming to automatically repair defects in C programs. While it successfully proved that automated program repair was a viable concept, it relied heavily on a generate-and-validate approach. As your report notes, this method had a significant weakness: it frequently produced "plausible but incorrect" patches that could pass the existing test suites.</a:t>
            </a:r>
          </a:p>
        </p:txBody>
      </p:sp>
      <p:sp>
        <p:nvSpPr>
          <p:cNvPr id="138" name="Google Shape;138;p8"/>
          <p:cNvSpPr/>
          <p:nvPr/>
        </p:nvSpPr>
        <p:spPr>
          <a:xfrm>
            <a:off x="7508081" y="4872038"/>
            <a:ext cx="1528763" cy="16430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16244" y="1110815"/>
            <a:ext cx="8520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0" rIns="51425" bIns="0" anchor="ctr" anchorCtr="0">
            <a:noAutofit/>
          </a:bodyPr>
          <a:lstStyle/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Automatically finding patches using genetic programming </a:t>
            </a: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W. Weimer, T. Nguyen, C. Le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Goues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Forrest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1715850" y="109025"/>
            <a:ext cx="57123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 dirty="0"/>
              <a:t>LITERATURE SURVEY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700" y="1821773"/>
            <a:ext cx="8520600" cy="2721436"/>
          </a:xfrm>
        </p:spPr>
        <p:txBody>
          <a:bodyPr/>
          <a:lstStyle/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introduced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SemFix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systematic approach that generates semantically correct program repairs by utilizing symbolic execution and constraint solving. Instead of relying on random code mutations, it represents the desired behavior of a program as logical constraints and uses an SMT solver to mathematically discover patches that satisfy them. This method significantly increased the validity of generated patches compared to earlier generate-and-validate techniques.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508081" y="4872038"/>
            <a:ext cx="1528763" cy="16430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16244" y="997707"/>
            <a:ext cx="8520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0" rIns="51425" bIns="0" anchor="ctr" anchorCtr="0">
            <a:noAutofit/>
          </a:bodyPr>
          <a:lstStyle/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SemFix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Program repair via semantic analysis 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H. D. T. Nguyen, D. Qi, A. Roychoudhury, and S. Chandra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27fe8fc6d9_0_67"/>
          <p:cNvSpPr/>
          <p:nvPr/>
        </p:nvSpPr>
        <p:spPr>
          <a:xfrm>
            <a:off x="7465219" y="4872038"/>
            <a:ext cx="1614600" cy="157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" name="Google Shape;183;g227fe8fc6d9_0_67"/>
          <p:cNvSpPr/>
          <p:nvPr/>
        </p:nvSpPr>
        <p:spPr>
          <a:xfrm>
            <a:off x="7465219" y="4779169"/>
            <a:ext cx="1614600" cy="249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4" name="Google Shape;184;g227fe8fc6d9_0_67"/>
          <p:cNvSpPr/>
          <p:nvPr/>
        </p:nvSpPr>
        <p:spPr>
          <a:xfrm>
            <a:off x="7300913" y="4557713"/>
            <a:ext cx="1778700" cy="47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5" name="Google Shape;185;g227fe8fc6d9_0_67"/>
          <p:cNvSpPr/>
          <p:nvPr/>
        </p:nvSpPr>
        <p:spPr>
          <a:xfrm>
            <a:off x="9015413" y="4957763"/>
            <a:ext cx="64200" cy="71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6" name="Google Shape;186;g227fe8fc6d9_0_67"/>
          <p:cNvSpPr txBox="1"/>
          <p:nvPr/>
        </p:nvSpPr>
        <p:spPr>
          <a:xfrm>
            <a:off x="64350" y="1037350"/>
            <a:ext cx="9015300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IN"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IN"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IN"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IN"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IN"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IN"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IN"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IN"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IN"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IN"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IN"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IN"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IN" sz="1800" dirty="0"/>
          </a:p>
        </p:txBody>
      </p:sp>
      <p:sp>
        <p:nvSpPr>
          <p:cNvPr id="187" name="Google Shape;187;g227fe8fc6d9_0_67"/>
          <p:cNvSpPr txBox="1">
            <a:spLocks noGrp="1"/>
          </p:cNvSpPr>
          <p:nvPr>
            <p:ph type="title"/>
          </p:nvPr>
        </p:nvSpPr>
        <p:spPr>
          <a:xfrm>
            <a:off x="1715850" y="109025"/>
            <a:ext cx="5712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None/>
            </a:pPr>
            <a:r>
              <a:rPr lang="en-IN" sz="3600" dirty="0"/>
              <a:t>PROPOSED SYSTEM</a:t>
            </a:r>
            <a:endParaRPr sz="3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FF7733C8-A64D-6022-0C2F-3ECA08534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4" y="1056826"/>
            <a:ext cx="8474928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dedicated symbolic validation layer to formally verify the semantic correctness of every generated patch.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Utilizes a local inference engine to ensure data privacy and reduce the cost associated with commercial API dependencies.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Introduces a neuro-symbolic framework that integrates the Qwen2.5-coder LLM with the Z3 theorem prover.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an automated feedback loop where Z3 counter-examples are fed back to the LLM to refine incorrect fixes.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7fe8fc6d9_0_85"/>
          <p:cNvSpPr/>
          <p:nvPr/>
        </p:nvSpPr>
        <p:spPr>
          <a:xfrm>
            <a:off x="7465219" y="4872038"/>
            <a:ext cx="1614600" cy="157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3" name="Google Shape;193;g227fe8fc6d9_0_85"/>
          <p:cNvSpPr/>
          <p:nvPr/>
        </p:nvSpPr>
        <p:spPr>
          <a:xfrm>
            <a:off x="7465219" y="4779169"/>
            <a:ext cx="1614600" cy="249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4" name="Google Shape;194;g227fe8fc6d9_0_85"/>
          <p:cNvSpPr/>
          <p:nvPr/>
        </p:nvSpPr>
        <p:spPr>
          <a:xfrm>
            <a:off x="7300913" y="4557713"/>
            <a:ext cx="1778700" cy="47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5" name="Google Shape;195;g227fe8fc6d9_0_85"/>
          <p:cNvSpPr/>
          <p:nvPr/>
        </p:nvSpPr>
        <p:spPr>
          <a:xfrm>
            <a:off x="9015413" y="4957763"/>
            <a:ext cx="64200" cy="71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6" name="Google Shape;196;g227fe8fc6d9_0_85"/>
          <p:cNvSpPr txBox="1"/>
          <p:nvPr/>
        </p:nvSpPr>
        <p:spPr>
          <a:xfrm>
            <a:off x="128700" y="3328729"/>
            <a:ext cx="9015300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97" name="Google Shape;197;g227fe8fc6d9_0_85"/>
          <p:cNvSpPr txBox="1">
            <a:spLocks noGrp="1"/>
          </p:cNvSpPr>
          <p:nvPr>
            <p:ph type="title"/>
          </p:nvPr>
        </p:nvSpPr>
        <p:spPr>
          <a:xfrm>
            <a:off x="1715850" y="109025"/>
            <a:ext cx="57123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 sz="3600"/>
              <a:t>ADVANTAGES</a:t>
            </a:r>
            <a:endParaRPr sz="36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360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BF7E2E-7483-393D-669D-CB301C78C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54" y="1049161"/>
            <a:ext cx="8541768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reduces the "plausible but incorrect" patch rate by enforcing formal logical constraints on AI output.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Eliminates neural hallucinations by grounding the LLM’s generative capabilities in mathematical rigor and truth.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deeper code understanding through multimodal analysis of program structure rather than just raw text.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high reliability with a 95% fix success rate compared to the 50% success rate of standard neural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75C5-70F6-AAB4-7234-B93240B40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850" y="97025"/>
            <a:ext cx="5712300" cy="600134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B1F656-3674-A41E-8CBD-DC16CE56F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788" y="1079500"/>
            <a:ext cx="5143499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463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80596-B7E0-CD77-F0FB-15674CC79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850" y="109025"/>
            <a:ext cx="5712300" cy="600134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CD1B27-3614-FEF0-DFEE-D50162CF4F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9827" y="831878"/>
            <a:ext cx="844200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Buggy Java Source Code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process starts by taking faulty Java code as input for analysis and repair.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1 – Multimodal Detection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code is checked using parsing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parse_ast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()), compilation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compile_check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()), and runtime verification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runtime_check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 to detect syntax, compile-time, and execution errors.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2 – Symbolic &amp; Semantic Analysis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analysis is performed using control flow graph (CFG) loop analysis, Z3 termination checking, and semantic checks to identify logical and variable-related issues.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Issue Detection and Decision Making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no issues are found, verified repaired code is returned; otherwise, the system proceeds to automated repair.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3 – LLM-Based Repair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prompt containing detected issues and constraints is sent to the Qwen2.5-coder model to generate repaired Java code.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Iterative Refinement and Output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repair process repeats up to 4 iterations until verified repaired code is produced, otherwise the best repair attempt is returned with warnings.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159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27fe8fc6d9_0_207"/>
          <p:cNvSpPr/>
          <p:nvPr/>
        </p:nvSpPr>
        <p:spPr>
          <a:xfrm>
            <a:off x="7465219" y="4872038"/>
            <a:ext cx="1614600" cy="157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3" name="Google Shape;293;g227fe8fc6d9_0_207"/>
          <p:cNvSpPr/>
          <p:nvPr/>
        </p:nvSpPr>
        <p:spPr>
          <a:xfrm>
            <a:off x="7465219" y="4779169"/>
            <a:ext cx="1614600" cy="249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4" name="Google Shape;294;g227fe8fc6d9_0_207"/>
          <p:cNvSpPr/>
          <p:nvPr/>
        </p:nvSpPr>
        <p:spPr>
          <a:xfrm>
            <a:off x="7300913" y="4557713"/>
            <a:ext cx="1778700" cy="47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5" name="Google Shape;295;g227fe8fc6d9_0_207"/>
          <p:cNvSpPr/>
          <p:nvPr/>
        </p:nvSpPr>
        <p:spPr>
          <a:xfrm>
            <a:off x="9015413" y="4957763"/>
            <a:ext cx="64200" cy="71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6" name="Google Shape;296;g227fe8fc6d9_0_207"/>
          <p:cNvSpPr txBox="1"/>
          <p:nvPr/>
        </p:nvSpPr>
        <p:spPr>
          <a:xfrm>
            <a:off x="64350" y="1037350"/>
            <a:ext cx="41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97" name="Google Shape;297;g227fe8fc6d9_0_207"/>
          <p:cNvSpPr txBox="1">
            <a:spLocks noGrp="1"/>
          </p:cNvSpPr>
          <p:nvPr>
            <p:ph type="title"/>
          </p:nvPr>
        </p:nvSpPr>
        <p:spPr>
          <a:xfrm>
            <a:off x="1715850" y="109025"/>
            <a:ext cx="57123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GB" sz="3000"/>
              <a:t>SOFTWARE AND HARDWARE REQUIREMENTS</a:t>
            </a:r>
            <a:endParaRPr sz="3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3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3000"/>
          </a:p>
        </p:txBody>
      </p:sp>
      <p:sp>
        <p:nvSpPr>
          <p:cNvPr id="298" name="Google Shape;298;g227fe8fc6d9_0_207"/>
          <p:cNvSpPr txBox="1"/>
          <p:nvPr/>
        </p:nvSpPr>
        <p:spPr>
          <a:xfrm>
            <a:off x="331375" y="1267875"/>
            <a:ext cx="8255400" cy="3476700"/>
          </a:xfrm>
          <a:prstGeom prst="rect">
            <a:avLst/>
          </a:prstGeom>
          <a:noFill/>
          <a:ln w="3810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270000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595959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OS: Windows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595959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Processor : minimum </a:t>
            </a:r>
            <a:r>
              <a:rPr lang="en-GB" sz="1800" dirty="0" err="1">
                <a:solidFill>
                  <a:srgbClr val="595959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i</a:t>
            </a:r>
            <a:r>
              <a:rPr lang="en-IN" sz="1800" dirty="0">
                <a:solidFill>
                  <a:srgbClr val="595959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5</a:t>
            </a:r>
            <a:endParaRPr sz="18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595959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GPU: Nvidia RTX 2060</a:t>
            </a:r>
            <a:endParaRPr sz="18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595959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RAM:  6GB</a:t>
            </a:r>
            <a:endParaRPr sz="18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595959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Software requirements:</a:t>
            </a:r>
            <a:endParaRPr sz="1800" dirty="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GB" sz="1800" dirty="0">
                <a:solidFill>
                  <a:srgbClr val="595959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Python</a:t>
            </a:r>
            <a:endParaRPr sz="1800" dirty="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IN" sz="1800" dirty="0">
                <a:solidFill>
                  <a:srgbClr val="595959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TensorFlow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IN" sz="1800" dirty="0">
                <a:solidFill>
                  <a:srgbClr val="595959"/>
                </a:solidFill>
              </a:rPr>
              <a:t>Flask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GB" sz="1800" dirty="0">
                <a:solidFill>
                  <a:srgbClr val="595959"/>
                </a:solidFill>
                <a:latin typeface="Cambria" panose="02040503050406030204"/>
                <a:ea typeface="Cambria" panose="02040503050406030204"/>
                <a:sym typeface="Cambria" panose="02040503050406030204"/>
              </a:rPr>
              <a:t>VS Code</a:t>
            </a:r>
            <a:endParaRPr sz="1800" dirty="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IN" sz="1800" dirty="0" err="1">
                <a:solidFill>
                  <a:srgbClr val="595959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HTML,CSS,JavaScript</a:t>
            </a:r>
            <a:endParaRPr sz="1800" dirty="0">
              <a:solidFill>
                <a:srgbClr val="595959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595959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595959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595959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595959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6159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595959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27fe8fc6d9_0_218"/>
          <p:cNvSpPr/>
          <p:nvPr/>
        </p:nvSpPr>
        <p:spPr>
          <a:xfrm>
            <a:off x="7465219" y="4872038"/>
            <a:ext cx="1614600" cy="157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4" name="Google Shape;304;g227fe8fc6d9_0_218"/>
          <p:cNvSpPr/>
          <p:nvPr/>
        </p:nvSpPr>
        <p:spPr>
          <a:xfrm>
            <a:off x="7465219" y="4779169"/>
            <a:ext cx="1614600" cy="249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5" name="Google Shape;305;g227fe8fc6d9_0_218"/>
          <p:cNvSpPr/>
          <p:nvPr/>
        </p:nvSpPr>
        <p:spPr>
          <a:xfrm>
            <a:off x="7300913" y="4557713"/>
            <a:ext cx="1778700" cy="47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6" name="Google Shape;306;g227fe8fc6d9_0_218"/>
          <p:cNvSpPr/>
          <p:nvPr/>
        </p:nvSpPr>
        <p:spPr>
          <a:xfrm>
            <a:off x="9015413" y="4957763"/>
            <a:ext cx="64200" cy="71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7" name="Google Shape;307;g227fe8fc6d9_0_218"/>
          <p:cNvSpPr txBox="1"/>
          <p:nvPr/>
        </p:nvSpPr>
        <p:spPr>
          <a:xfrm>
            <a:off x="64350" y="1037350"/>
            <a:ext cx="41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08" name="Google Shape;308;g227fe8fc6d9_0_218"/>
          <p:cNvSpPr txBox="1"/>
          <p:nvPr/>
        </p:nvSpPr>
        <p:spPr>
          <a:xfrm>
            <a:off x="840658" y="1037350"/>
            <a:ext cx="7580671" cy="3586269"/>
          </a:xfrm>
          <a:prstGeom prst="rect">
            <a:avLst/>
          </a:prstGeom>
          <a:noFill/>
          <a:ln w="3810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270000" bIns="91425" anchor="t" anchorCtr="0">
            <a:noAutofit/>
          </a:bodyPr>
          <a:lstStyle/>
          <a:p>
            <a:pPr marL="4572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GB" b="1" dirty="0">
                <a:solidFill>
                  <a:srgbClr val="500050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Programming language      :  python </a:t>
            </a:r>
            <a:endParaRPr dirty="0">
              <a:solidFill>
                <a:srgbClr val="595959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500050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===================================================== </a:t>
            </a:r>
            <a:endParaRPr dirty="0">
              <a:solidFill>
                <a:srgbClr val="595959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Module 1: (OS Configuration)</a:t>
            </a:r>
            <a:endParaRPr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	System environment setup</a:t>
            </a:r>
            <a:endParaRPr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Module 2: (Software configuration)</a:t>
            </a:r>
            <a:endParaRPr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	Python, Tensor Flow, Anaconda, Deep learning libraries and other libraries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Module 3:( Dataset collection and configuration )</a:t>
            </a:r>
            <a:endParaRPr dirty="0">
              <a:solidFill>
                <a:srgbClr val="595959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	Collect Text (Test-20% and Train-80%), config hypermeters.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Module 4: (Train the model )</a:t>
            </a:r>
            <a:endParaRPr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Training on </a:t>
            </a:r>
            <a:r>
              <a:rPr lang="en-GB" dirty="0" err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GB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(depending on how powerful your CPU and GPU)</a:t>
            </a:r>
            <a:endParaRPr dirty="0">
              <a:solidFill>
                <a:srgbClr val="595959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.</a:t>
            </a:r>
            <a:endParaRPr dirty="0">
              <a:solidFill>
                <a:srgbClr val="595959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595959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6159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595959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309" name="Google Shape;309;g227fe8fc6d9_0_218"/>
          <p:cNvSpPr txBox="1"/>
          <p:nvPr/>
        </p:nvSpPr>
        <p:spPr>
          <a:xfrm>
            <a:off x="2506925" y="79825"/>
            <a:ext cx="376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GB" sz="2400">
                <a:solidFill>
                  <a:srgbClr val="FF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Modules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27fe8fc6d9_0_230"/>
          <p:cNvSpPr/>
          <p:nvPr/>
        </p:nvSpPr>
        <p:spPr>
          <a:xfrm>
            <a:off x="7465219" y="4872038"/>
            <a:ext cx="1614600" cy="157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5" name="Google Shape;315;g227fe8fc6d9_0_230"/>
          <p:cNvSpPr/>
          <p:nvPr/>
        </p:nvSpPr>
        <p:spPr>
          <a:xfrm>
            <a:off x="7465219" y="4779169"/>
            <a:ext cx="1614600" cy="249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6" name="Google Shape;316;g227fe8fc6d9_0_230"/>
          <p:cNvSpPr/>
          <p:nvPr/>
        </p:nvSpPr>
        <p:spPr>
          <a:xfrm>
            <a:off x="7300913" y="4557713"/>
            <a:ext cx="1778700" cy="47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7" name="Google Shape;317;g227fe8fc6d9_0_230"/>
          <p:cNvSpPr/>
          <p:nvPr/>
        </p:nvSpPr>
        <p:spPr>
          <a:xfrm>
            <a:off x="9015413" y="4957763"/>
            <a:ext cx="64200" cy="71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8" name="Google Shape;318;g227fe8fc6d9_0_230"/>
          <p:cNvSpPr txBox="1"/>
          <p:nvPr/>
        </p:nvSpPr>
        <p:spPr>
          <a:xfrm>
            <a:off x="64350" y="1037350"/>
            <a:ext cx="41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19" name="Google Shape;319;g227fe8fc6d9_0_230"/>
          <p:cNvSpPr txBox="1"/>
          <p:nvPr/>
        </p:nvSpPr>
        <p:spPr>
          <a:xfrm>
            <a:off x="2506925" y="79825"/>
            <a:ext cx="376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Modules</a:t>
            </a:r>
          </a:p>
        </p:txBody>
      </p:sp>
      <p:sp>
        <p:nvSpPr>
          <p:cNvPr id="320" name="Google Shape;320;g227fe8fc6d9_0_230"/>
          <p:cNvSpPr txBox="1"/>
          <p:nvPr/>
        </p:nvSpPr>
        <p:spPr>
          <a:xfrm>
            <a:off x="1234174" y="823588"/>
            <a:ext cx="6426600" cy="3519786"/>
          </a:xfrm>
          <a:prstGeom prst="rect">
            <a:avLst/>
          </a:prstGeom>
          <a:noFill/>
          <a:ln w="3810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270000" bIns="91425" anchor="t" anchorCtr="0">
            <a:noAutofit/>
          </a:bodyPr>
          <a:lstStyle/>
          <a:p>
            <a:pPr marL="4572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GB" b="1" dirty="0">
                <a:solidFill>
                  <a:srgbClr val="500050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Programming language      :  python </a:t>
            </a:r>
            <a:endParaRPr lang="en-GB" dirty="0">
              <a:solidFill>
                <a:srgbClr val="595959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500050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===================================================== </a:t>
            </a:r>
            <a:endParaRPr lang="en-GB" dirty="0">
              <a:solidFill>
                <a:srgbClr val="595959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  <a:p>
            <a:pPr marL="4572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Module 5: (Add </a:t>
            </a:r>
            <a:r>
              <a:rPr lang="en-GB" dirty="0" err="1">
                <a:solidFill>
                  <a:srgbClr val="0000FF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NeuroSymbolic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 and Multimodal)</a:t>
            </a:r>
            <a:endParaRPr lang="en-GB"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500050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	</a:t>
            </a:r>
            <a:r>
              <a:rPr lang="en-GB" dirty="0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Apply </a:t>
            </a:r>
            <a:r>
              <a:rPr lang="en-GB" dirty="0" err="1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Neurosymbolic</a:t>
            </a:r>
            <a:r>
              <a:rPr lang="en-GB" dirty="0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 and multimodal code reasoning</a:t>
            </a:r>
          </a:p>
          <a:p>
            <a:pPr marL="4572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Module 6: ( Accuracy )</a:t>
            </a:r>
            <a:endParaRPr lang="en-GB"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	Run Accuracy and Validate the test and </a:t>
            </a:r>
            <a:r>
              <a:rPr lang="en-GB" dirty="0" err="1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validatation</a:t>
            </a:r>
            <a:r>
              <a:rPr lang="en-GB" dirty="0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 dataset.</a:t>
            </a:r>
            <a:endParaRPr lang="en-GB"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Module 7: (Deploy model)</a:t>
            </a:r>
            <a:endParaRPr lang="en-GB"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	Save (.</a:t>
            </a:r>
            <a:r>
              <a:rPr lang="en-GB" dirty="0" err="1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p</a:t>
            </a:r>
            <a:r>
              <a:rPr lang="en-GB" altLang="en-GB" dirty="0" err="1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th</a:t>
            </a:r>
            <a:r>
              <a:rPr lang="en-GB" dirty="0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 file )</a:t>
            </a:r>
          </a:p>
          <a:p>
            <a:pPr marL="285750" lvl="0" indent="-2857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 Module 8: (Final)</a:t>
            </a:r>
            <a:endParaRPr lang="en-GB" dirty="0">
              <a:solidFill>
                <a:srgbClr val="595959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	</a:t>
            </a:r>
            <a:r>
              <a:rPr lang="en-GB" dirty="0">
                <a:solidFill>
                  <a:srgbClr val="595959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Use the trained model to make predictions using API frameworks</a:t>
            </a:r>
            <a:endParaRPr lang="en-GB"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595959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  <a:p>
            <a:pPr marL="6159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595959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7fe8fc6d9_0_163"/>
          <p:cNvSpPr/>
          <p:nvPr/>
        </p:nvSpPr>
        <p:spPr>
          <a:xfrm>
            <a:off x="7465219" y="4872038"/>
            <a:ext cx="1614600" cy="157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306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6" name="Google Shape;266;g227fe8fc6d9_0_163"/>
          <p:cNvSpPr/>
          <p:nvPr/>
        </p:nvSpPr>
        <p:spPr>
          <a:xfrm>
            <a:off x="7465219" y="4779169"/>
            <a:ext cx="1614600" cy="249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7" name="Google Shape;267;g227fe8fc6d9_0_163"/>
          <p:cNvSpPr/>
          <p:nvPr/>
        </p:nvSpPr>
        <p:spPr>
          <a:xfrm>
            <a:off x="7300913" y="4557713"/>
            <a:ext cx="1778700" cy="47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CP</a:t>
            </a:r>
            <a:endParaRPr sz="1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8" name="Google Shape;268;g227fe8fc6d9_0_163"/>
          <p:cNvSpPr/>
          <p:nvPr/>
        </p:nvSpPr>
        <p:spPr>
          <a:xfrm>
            <a:off x="9015413" y="4957763"/>
            <a:ext cx="64200" cy="71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5850" y="109025"/>
            <a:ext cx="5712300" cy="600134"/>
          </a:xfrm>
        </p:spPr>
        <p:txBody>
          <a:bodyPr/>
          <a:lstStyle/>
          <a:p>
            <a:r>
              <a:rPr lang="en-IN" dirty="0"/>
              <a:t>RESULT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8C71F2-8E5D-3930-264C-AAC6C9848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1469" y="955212"/>
            <a:ext cx="5821363" cy="35558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4E5A-51C6-AFCD-30C0-06E212A68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850" y="109025"/>
            <a:ext cx="5712300" cy="600134"/>
          </a:xfrm>
        </p:spPr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85BD9-891A-85BC-C0AD-2E5F02597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D1CAC-D9DE-E1E7-F1AF-343B9A4A4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56" y="1000460"/>
            <a:ext cx="8563089" cy="349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16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642F-047F-489B-693E-5679D27E9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850" y="109025"/>
            <a:ext cx="5712300" cy="600134"/>
          </a:xfrm>
        </p:spPr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BE139-5167-75E9-DAD4-68CE1F406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0C846-0900-5436-B340-1DF8D06FC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03" y="968189"/>
            <a:ext cx="8519096" cy="343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81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4800" dirty="0"/>
              <a:t>Thank You</a:t>
            </a:r>
            <a:endParaRPr sz="48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8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 sz="4800" dirty="0"/>
          </a:p>
        </p:txBody>
      </p:sp>
      <p:sp>
        <p:nvSpPr>
          <p:cNvPr id="326" name="Google Shape;326;p27"/>
          <p:cNvSpPr/>
          <p:nvPr/>
        </p:nvSpPr>
        <p:spPr>
          <a:xfrm>
            <a:off x="7479506" y="4872038"/>
            <a:ext cx="1593057" cy="20002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1098" cy="9811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24" y="81588"/>
            <a:ext cx="760171" cy="7912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1183</Words>
  <Application>Microsoft Office PowerPoint</Application>
  <PresentationFormat>On-screen Show (16:9)</PresentationFormat>
  <Paragraphs>138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Open Sans</vt:lpstr>
      <vt:lpstr>Arial</vt:lpstr>
      <vt:lpstr>Calibri</vt:lpstr>
      <vt:lpstr>Times New Roman</vt:lpstr>
      <vt:lpstr>Cambria</vt:lpstr>
      <vt:lpstr>Simple Light</vt:lpstr>
      <vt:lpstr>Custom Design</vt:lpstr>
      <vt:lpstr>PowerPoint Presentation</vt:lpstr>
      <vt:lpstr>ABSTRACT</vt:lpstr>
      <vt:lpstr>INTRODUCTION</vt:lpstr>
      <vt:lpstr>WHAT IS NEUROSYMBOLIC?    </vt:lpstr>
      <vt:lpstr>WHAT IS MULTIMODAL CODE REASONING?</vt:lpstr>
      <vt:lpstr>EXISTING SYSTEM </vt:lpstr>
      <vt:lpstr>DRAWBACKS </vt:lpstr>
      <vt:lpstr>LITERATURE SURVEY</vt:lpstr>
      <vt:lpstr>LITERATURE SURVEY</vt:lpstr>
      <vt:lpstr>PROPOSED SYSTEM</vt:lpstr>
      <vt:lpstr>ADVANTAGES </vt:lpstr>
      <vt:lpstr>METHODOLOGY</vt:lpstr>
      <vt:lpstr>METHODOLOGY</vt:lpstr>
      <vt:lpstr>SOFTWARE AND HARDWARE REQUIREMENTS  </vt:lpstr>
      <vt:lpstr>PowerPoint Presentation</vt:lpstr>
      <vt:lpstr>PowerPoint Presentation</vt:lpstr>
      <vt:lpstr>RESULT</vt:lpstr>
      <vt:lpstr>OUTPUT</vt:lpstr>
      <vt:lpstr>OUTPUT</vt:lpstr>
      <vt:lpstr>Thank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CP4411-Project Work                                                      Department of Computer Science and Engineering</dc:title>
  <dc:creator>ADMIN</dc:creator>
  <cp:lastModifiedBy>bargavi ganesh</cp:lastModifiedBy>
  <cp:revision>13</cp:revision>
  <dcterms:created xsi:type="dcterms:W3CDTF">2024-05-24T03:18:38Z</dcterms:created>
  <dcterms:modified xsi:type="dcterms:W3CDTF">2026-04-21T10:40:38Z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EA0A0E082C8E45189C95A3ECF545BD92_12</vt:lpwstr>
  </property>
  <property fmtid="{D5CDD505-2E9C-101B-9397-08002B2CF9AE}" pid="3" name="KSOProductBuildVer">
    <vt:lpwstr>1033-12.2.0.16909</vt:lpwstr>
  </property>
</Properties>
</file>